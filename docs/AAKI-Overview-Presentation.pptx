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3" r:id="rId7"/>
    <p:sldId id="264" r:id="rId8"/>
    <p:sldId id="265" r:id="rId9"/>
    <p:sldId id="266" r:id="rId10"/>
    <p:sldId id="267" r:id="rId11"/>
    <p:sldId id="268" r:id="rId12"/>
    <p:sldId id="270" r:id="rId13"/>
    <p:sldId id="271" r:id="rId14"/>
    <p:sldId id="272" r:id="rId15"/>
    <p:sldId id="273" r:id="rId16"/>
    <p:sldId id="274" r:id="rId17"/>
    <p:sldId id="278" r:id="rId18"/>
    <p:sldId id="279" r:id="rId19"/>
    <p:sldId id="277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28" autoAdjust="0"/>
    <p:restoredTop sz="94740" autoAdjust="0"/>
  </p:normalViewPr>
  <p:slideViewPr>
    <p:cSldViewPr snapToGrid="0" snapToObjects="1">
      <p:cViewPr varScale="1">
        <p:scale>
          <a:sx n="144" d="100"/>
          <a:sy n="144" d="100"/>
        </p:scale>
        <p:origin x="1656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28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7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7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700" b="1"/>
            </a:lvl1pPr>
            <a:lvl2pPr marL="457200" indent="0">
              <a:buNone/>
              <a:defRPr sz="1400" b="1"/>
            </a:lvl2pPr>
            <a:lvl3pPr marL="914400" indent="0">
              <a:buNone/>
              <a:defRPr sz="1300" b="1"/>
            </a:lvl3pPr>
            <a:lvl4pPr marL="1371600" indent="0">
              <a:buNone/>
              <a:defRPr sz="1100" b="1"/>
            </a:lvl4pPr>
            <a:lvl5pPr marL="1828800" indent="0">
              <a:buNone/>
              <a:defRPr sz="1100" b="1"/>
            </a:lvl5pPr>
            <a:lvl6pPr marL="2286000" indent="0">
              <a:buNone/>
              <a:defRPr sz="1100" b="1"/>
            </a:lvl6pPr>
            <a:lvl7pPr marL="2743200" indent="0">
              <a:buNone/>
              <a:defRPr sz="1100" b="1"/>
            </a:lvl7pPr>
            <a:lvl8pPr marL="3200400" indent="0">
              <a:buNone/>
              <a:defRPr sz="1100" b="1"/>
            </a:lvl8pPr>
            <a:lvl9pPr marL="3657600" indent="0">
              <a:buNone/>
              <a:defRPr sz="1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700"/>
            </a:lvl1pPr>
            <a:lvl2pPr>
              <a:defRPr sz="1400"/>
            </a:lvl2pPr>
            <a:lvl3pPr>
              <a:defRPr sz="13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1700" b="1"/>
            </a:lvl1pPr>
            <a:lvl2pPr marL="457200" indent="0">
              <a:buNone/>
              <a:defRPr sz="1400" b="1"/>
            </a:lvl2pPr>
            <a:lvl3pPr marL="914400" indent="0">
              <a:buNone/>
              <a:defRPr sz="1300" b="1"/>
            </a:lvl3pPr>
            <a:lvl4pPr marL="1371600" indent="0">
              <a:buNone/>
              <a:defRPr sz="1100" b="1"/>
            </a:lvl4pPr>
            <a:lvl5pPr marL="1828800" indent="0">
              <a:buNone/>
              <a:defRPr sz="1100" b="1"/>
            </a:lvl5pPr>
            <a:lvl6pPr marL="2286000" indent="0">
              <a:buNone/>
              <a:defRPr sz="1100" b="1"/>
            </a:lvl6pPr>
            <a:lvl7pPr marL="2743200" indent="0">
              <a:buNone/>
              <a:defRPr sz="1100" b="1"/>
            </a:lvl7pPr>
            <a:lvl8pPr marL="3200400" indent="0">
              <a:buNone/>
              <a:defRPr sz="1100" b="1"/>
            </a:lvl8pPr>
            <a:lvl9pPr marL="3657600" indent="0">
              <a:buNone/>
              <a:defRPr sz="1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1700"/>
            </a:lvl1pPr>
            <a:lvl2pPr>
              <a:defRPr sz="1400"/>
            </a:lvl2pPr>
            <a:lvl3pPr>
              <a:defRPr sz="13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1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7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000"/>
            </a:lvl1pPr>
            <a:lvl2pPr marL="457200" indent="0">
              <a:buNone/>
              <a:defRPr sz="800"/>
            </a:lvl2pPr>
            <a:lvl3pPr marL="914400" indent="0">
              <a:buNone/>
              <a:defRPr sz="700"/>
            </a:lvl3pPr>
            <a:lvl4pPr marL="1371600" indent="0">
              <a:buNone/>
              <a:defRPr sz="600"/>
            </a:lvl4pPr>
            <a:lvl5pPr marL="1828800" indent="0">
              <a:buNone/>
              <a:defRPr sz="600"/>
            </a:lvl5pPr>
            <a:lvl6pPr marL="2286000" indent="0">
              <a:buNone/>
              <a:defRPr sz="600"/>
            </a:lvl6pPr>
            <a:lvl7pPr marL="2743200" indent="0">
              <a:buNone/>
              <a:defRPr sz="600"/>
            </a:lvl7pPr>
            <a:lvl8pPr marL="3200400" indent="0">
              <a:buNone/>
              <a:defRPr sz="600"/>
            </a:lvl8pPr>
            <a:lvl9pPr marL="3657600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200"/>
            </a:lvl1pPr>
            <a:lvl2pPr marL="457200" indent="0">
              <a:buNone/>
              <a:defRPr sz="2000"/>
            </a:lvl2pPr>
            <a:lvl3pPr marL="914400" indent="0">
              <a:buNone/>
              <a:defRPr sz="17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00"/>
            </a:lvl1pPr>
            <a:lvl2pPr marL="457200" indent="0">
              <a:buNone/>
              <a:defRPr sz="800"/>
            </a:lvl2pPr>
            <a:lvl3pPr marL="914400" indent="0">
              <a:buNone/>
              <a:defRPr sz="700"/>
            </a:lvl3pPr>
            <a:lvl4pPr marL="1371600" indent="0">
              <a:buNone/>
              <a:defRPr sz="600"/>
            </a:lvl4pPr>
            <a:lvl5pPr marL="1828800" indent="0">
              <a:buNone/>
              <a:defRPr sz="600"/>
            </a:lvl5pPr>
            <a:lvl6pPr marL="2286000" indent="0">
              <a:buNone/>
              <a:defRPr sz="600"/>
            </a:lvl6pPr>
            <a:lvl7pPr marL="2743200" indent="0">
              <a:buNone/>
              <a:defRPr sz="600"/>
            </a:lvl7pPr>
            <a:lvl8pPr marL="3200400" indent="0">
              <a:buNone/>
              <a:defRPr sz="600"/>
            </a:lvl8pPr>
            <a:lvl9pPr marL="3657600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3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AI Assisted Knowledge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Making the digital thread actionable — with a live demo to follow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/>
            <a:r>
              <a:rPr dirty="0"/>
              <a:t>The </a:t>
            </a:r>
            <a:r>
              <a:rPr lang="en-US" dirty="0"/>
              <a:t>D</a:t>
            </a:r>
            <a:r>
              <a:rPr dirty="0"/>
              <a:t>igital </a:t>
            </a:r>
            <a:r>
              <a:rPr lang="en-US" dirty="0"/>
              <a:t>T</a:t>
            </a:r>
            <a:r>
              <a:rPr dirty="0"/>
              <a:t>hread</a:t>
            </a:r>
            <a:r>
              <a:rPr lang="en-US" dirty="0"/>
              <a:t> – a navigable, governed graph</a:t>
            </a:r>
            <a:endParaRPr dirty="0"/>
          </a:p>
        </p:txBody>
      </p:sp>
      <p:pic>
        <p:nvPicPr>
          <p:cNvPr id="3" name="Picture 1" descr="/private/tmp/claude-504/-Users-jamsden-Developer-OSLC-oslc4js/7fe588af-71ed-4255-9b6b-80d89df9bbf0/scratchpad/AAKI-Digital-Thread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74085" y="1885607"/>
            <a:ext cx="7395829" cy="4795838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9C23781-4C7A-87F3-801D-2FA8F5E2D44E}"/>
              </a:ext>
            </a:extLst>
          </p:cNvPr>
          <p:cNvSpPr txBox="1"/>
          <p:nvPr/>
        </p:nvSpPr>
        <p:spPr>
          <a:xfrm>
            <a:off x="457200" y="1239276"/>
            <a:ext cx="79212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Tool and domain </a:t>
            </a:r>
            <a:r>
              <a:rPr lang="en-US" b="1" dirty="0"/>
              <a:t>nodes</a:t>
            </a:r>
            <a:r>
              <a:rPr lang="en-US" dirty="0"/>
              <a:t> across the V-model, connected by </a:t>
            </a:r>
            <a:r>
              <a:rPr lang="en-US" b="1" dirty="0"/>
              <a:t>links</a:t>
            </a:r>
            <a:r>
              <a:rPr lang="en-US" dirty="0"/>
              <a:t> — the connected, traceable, </a:t>
            </a:r>
            <a:r>
              <a:rPr lang="en-US" dirty="0" err="1"/>
              <a:t>queryable</a:t>
            </a:r>
            <a:r>
              <a:rPr lang="en-US" dirty="0"/>
              <a:t> definition of the product across its lifecycle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l">
              <a:buNone/>
            </a:pPr>
            <a:r>
              <a:rPr lang="en-US" dirty="0"/>
              <a:t>Challenges </a:t>
            </a:r>
            <a:r>
              <a:rPr dirty="0"/>
              <a:t>— a </a:t>
            </a:r>
            <a:r>
              <a:rPr lang="en-US" dirty="0"/>
              <a:t>Digital Thread graph</a:t>
            </a:r>
            <a:r>
              <a:rPr dirty="0"/>
              <a:t> with holes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r>
              <a:rPr dirty="0"/>
              <a:t>Seen as nodes and links, </a:t>
            </a:r>
            <a:r>
              <a:rPr lang="en-US" dirty="0"/>
              <a:t>four</a:t>
            </a:r>
            <a:r>
              <a:rPr dirty="0"/>
              <a:t> gaps stand in the way</a:t>
            </a:r>
            <a:r>
              <a:rPr lang="en-US" dirty="0"/>
              <a:t> of realizing the  Digital Thread value</a:t>
            </a:r>
            <a:r>
              <a:rPr dirty="0"/>
              <a:t>:</a:t>
            </a:r>
          </a:p>
          <a:p>
            <a:pPr marL="914400" lvl="1" indent="-457200">
              <a:buFont typeface="+mj-lt"/>
              <a:buAutoNum type="arabicPeriod"/>
            </a:pPr>
            <a:r>
              <a:rPr b="1" dirty="0"/>
              <a:t>Missing links between nodes — the connectivity/traceability gap.</a:t>
            </a:r>
            <a:r>
              <a:rPr dirty="0"/>
              <a:t> Tools are islands; linking them is manual, slow, error-prone, and decays over time. You can’t reliably exchange or trace data across the thread.</a:t>
            </a:r>
          </a:p>
          <a:p>
            <a:pPr marL="914400" lvl="1" indent="-457200">
              <a:buFont typeface="+mj-lt"/>
              <a:buAutoNum type="arabicPeriod"/>
            </a:pPr>
            <a:r>
              <a:rPr b="1" dirty="0"/>
              <a:t>Missing domain nodes — the data gap.</a:t>
            </a:r>
            <a:r>
              <a:rPr dirty="0"/>
              <a:t> Some information has no node at all. </a:t>
            </a:r>
            <a:r>
              <a:rPr b="1" dirty="0"/>
              <a:t>Business motivation and </a:t>
            </a:r>
            <a:r>
              <a:rPr b="1"/>
              <a:t>portfolio</a:t>
            </a:r>
            <a:r>
              <a:rPr lang="en-US" b="1"/>
              <a:t> management</a:t>
            </a:r>
            <a:r>
              <a:t> </a:t>
            </a:r>
            <a:r>
              <a:rPr dirty="0"/>
              <a:t>— </a:t>
            </a:r>
            <a:r>
              <a:rPr i="1" dirty="0"/>
              <a:t>Doing the Right Things Right</a:t>
            </a:r>
            <a:r>
              <a:rPr dirty="0"/>
              <a:t> — are often absent entirely.</a:t>
            </a:r>
          </a:p>
          <a:p>
            <a:pPr marL="914400" lvl="1" indent="-457200">
              <a:buFont typeface="+mj-lt"/>
              <a:buAutoNum type="arabicPeriod"/>
            </a:pPr>
            <a:r>
              <a:rPr b="1" dirty="0"/>
              <a:t>Ungoverned evolution — the governance &amp; continuous-improvement gap.</a:t>
            </a:r>
            <a:r>
              <a:rPr dirty="0"/>
              <a:t> A connected, populated thread only pays off if it’s governed as it evolves — otherwise it stays </a:t>
            </a:r>
            <a:r>
              <a:rPr b="1" dirty="0"/>
              <a:t>hard to reach</a:t>
            </a:r>
            <a:r>
              <a:rPr dirty="0"/>
              <a:t> (no federation → lossy data marts), </a:t>
            </a:r>
            <a:r>
              <a:rPr b="1" dirty="0"/>
              <a:t>inert</a:t>
            </a:r>
            <a:r>
              <a:rPr dirty="0"/>
              <a:t>, and its conformance lives in episodic audits with no feedback loop. This is where the thread’s value is ultimately realized.</a:t>
            </a: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Configuration Management </a:t>
            </a:r>
            <a:r>
              <a:rPr lang="en-US" dirty="0"/>
              <a:t>– managing versions and configurations of all the contributions to the digital thread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AAKI closes the gaps — AI assistants + OSLC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737344"/>
          </a:xfrm>
        </p:spPr>
        <p:txBody>
          <a:bodyPr>
            <a:normAutofit lnSpcReduction="10000"/>
          </a:bodyPr>
          <a:lstStyle/>
          <a:p>
            <a:pPr lvl="0">
              <a:buFont typeface="Wingdings" pitchFamily="2" charset="2"/>
              <a:buChar char="Ø"/>
            </a:pPr>
            <a:r>
              <a:rPr b="1" dirty="0"/>
              <a:t>What if</a:t>
            </a:r>
            <a:r>
              <a:rPr dirty="0"/>
              <a:t> an AI assistant could </a:t>
            </a:r>
            <a:r>
              <a:rPr b="1" dirty="0"/>
              <a:t>add the missing nodes</a:t>
            </a:r>
            <a:r>
              <a:rPr dirty="0"/>
              <a:t> (harvest a domain into a governed OSLC server in </a:t>
            </a:r>
            <a:r>
              <a:rPr i="1" dirty="0"/>
              <a:t>days</a:t>
            </a:r>
            <a:r>
              <a:rPr dirty="0"/>
              <a:t>, not months) …</a:t>
            </a:r>
          </a:p>
          <a:p>
            <a:pPr lvl="0">
              <a:buFont typeface="Wingdings" pitchFamily="2" charset="2"/>
              <a:buChar char="Ø"/>
            </a:pPr>
            <a:r>
              <a:rPr b="1" dirty="0"/>
              <a:t>What if</a:t>
            </a:r>
            <a:r>
              <a:rPr dirty="0"/>
              <a:t> it could </a:t>
            </a:r>
            <a:r>
              <a:rPr b="1" dirty="0"/>
              <a:t>add the missing data and links</a:t>
            </a:r>
            <a:r>
              <a:rPr dirty="0"/>
              <a:t> — populating resources and the typed cross-tool links between them, </a:t>
            </a:r>
            <a:r>
              <a:rPr i="1" dirty="0"/>
              <a:t>without the author hand-crafting each one</a:t>
            </a:r>
            <a:r>
              <a:rPr dirty="0"/>
              <a:t> …</a:t>
            </a:r>
          </a:p>
          <a:p>
            <a:pPr lvl="0">
              <a:buFont typeface="Wingdings" pitchFamily="2" charset="2"/>
              <a:buChar char="Ø"/>
            </a:pPr>
            <a:r>
              <a:rPr b="1" dirty="0"/>
              <a:t>What if</a:t>
            </a:r>
            <a:r>
              <a:rPr dirty="0"/>
              <a:t> you could then </a:t>
            </a:r>
            <a:r>
              <a:rPr b="1" dirty="0"/>
              <a:t>ask the whole connected thread</a:t>
            </a:r>
            <a:r>
              <a:rPr dirty="0"/>
              <a:t> questions and act on </a:t>
            </a:r>
            <a:r>
              <a:rPr lang="en-US" dirty="0"/>
              <a:t>version aware, </a:t>
            </a:r>
            <a:r>
              <a:rPr dirty="0"/>
              <a:t>governed, trustworthy answers …</a:t>
            </a:r>
          </a:p>
          <a:p>
            <a:pPr lvl="0">
              <a:buFont typeface="Wingdings" pitchFamily="2" charset="2"/>
              <a:buChar char="Ø"/>
            </a:pPr>
            <a:r>
              <a:rPr b="1" dirty="0"/>
              <a:t>What if</a:t>
            </a:r>
            <a:r>
              <a:rPr dirty="0"/>
              <a:t> conformance to your governance regime were a </a:t>
            </a:r>
            <a:r>
              <a:rPr b="1" dirty="0"/>
              <a:t>continuously-held state</a:t>
            </a:r>
            <a:r>
              <a:rPr dirty="0"/>
              <a:t> over that live thread — not a report rebuilt at audit time — and the same thread showed you where to improve?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21C010-0276-13F9-D3B1-6B06D7423A3D}"/>
              </a:ext>
            </a:extLst>
          </p:cNvPr>
          <p:cNvSpPr txBox="1"/>
          <p:nvPr/>
        </p:nvSpPr>
        <p:spPr>
          <a:xfrm>
            <a:off x="457200" y="5520108"/>
            <a:ext cx="83890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promise: </a:t>
            </a:r>
            <a:r>
              <a:rPr lang="en-US" sz="2400" b="1" dirty="0"/>
              <a:t>AI assistants helping close the gaps in your digital thread and make it actionable — to “Do the Right Things Right.”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The four “what ifs” are the four AAKI stages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03396092"/>
              </p:ext>
            </p:extLst>
          </p:nvPr>
        </p:nvGraphicFramePr>
        <p:xfrm>
          <a:off x="457200" y="1600200"/>
          <a:ext cx="8229600" cy="48643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1893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/>
                        <a:t>The “what if”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/>
                        <a:t>AAKI stage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8192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/>
                        <a:t>Add a missing node — harvest a domain into a governed OSLC server </a:t>
                      </a:r>
                      <a:r>
                        <a:rPr sz="1600" i="1"/>
                        <a:t>fast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 b="1"/>
                        <a:t>Define</a:t>
                      </a:r>
                      <a:r>
                        <a:rPr sz="1600"/>
                        <a:t> — AI </a:t>
                      </a:r>
                      <a:r>
                        <a:rPr sz="1600" b="1"/>
                        <a:t>configures</a:t>
                      </a:r>
                      <a:r>
                        <a:rPr sz="1600"/>
                        <a:t> over existing shared vocabularies (SysML, PLM, OSLC RM/QM/CM/AM, BMM), or </a:t>
                      </a:r>
                      <a:r>
                        <a:rPr sz="1600" b="1"/>
                        <a:t>drafts</a:t>
                      </a:r>
                      <a:r>
                        <a:rPr sz="1600"/>
                        <a:t> a new one for a genuine gap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2034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/>
                        <a:t>Add the missing data and links — populate resources and links </a:t>
                      </a:r>
                      <a:r>
                        <a:rPr sz="1600" i="1"/>
                        <a:t>without hand-crafting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 b="1" dirty="0"/>
                        <a:t>Instantiate</a:t>
                      </a:r>
                      <a:r>
                        <a:rPr sz="1600" dirty="0"/>
                        <a:t> — AI translates SME </a:t>
                      </a:r>
                      <a:r>
                        <a:rPr lang="en-US" sz="1600" dirty="0"/>
                        <a:t>content and </a:t>
                      </a:r>
                      <a:r>
                        <a:rPr sz="1600" dirty="0"/>
                        <a:t>intent into shape-conformant resources and typed links via MCP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925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/>
                        <a:t>Ask the connected thread and decide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 b="1"/>
                        <a:t>Activate</a:t>
                      </a:r>
                      <a:r>
                        <a:rPr sz="1600"/>
                        <a:t> — natural-language Q&amp;A, what-if, gap/impact analysis, compliance reporting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8435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 dirty="0"/>
                        <a:t>Hold conformance to your governance regime as a </a:t>
                      </a:r>
                      <a:r>
                        <a:rPr sz="1600" i="1" dirty="0"/>
                        <a:t>continuously-held</a:t>
                      </a:r>
                      <a:r>
                        <a:rPr sz="1600" dirty="0"/>
                        <a:t> state, and see where to improve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 b="1" dirty="0"/>
                        <a:t>Govern</a:t>
                      </a:r>
                      <a:r>
                        <a:rPr sz="1600" dirty="0"/>
                        <a:t> — a regime’s criteria governed as OSLC data linked to their evidence; continuous conformance assessment reusing </a:t>
                      </a:r>
                      <a:r>
                        <a:rPr sz="1600" dirty="0" err="1"/>
                        <a:t>Activate’s</a:t>
                      </a:r>
                      <a:r>
                        <a:rPr sz="1600" dirty="0"/>
                        <a:t> queries; AI drafts findings/ratings, humans own the rating</a:t>
                      </a:r>
                      <a:r>
                        <a:rPr lang="en-US" sz="1600" dirty="0"/>
                        <a:t>, reducing compliance drift</a:t>
                      </a:r>
                      <a:endParaRPr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22804"/>
          </a:xfrm>
        </p:spPr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/>
              <a:t>AAKI at a glance</a:t>
            </a:r>
          </a:p>
        </p:txBody>
      </p:sp>
      <p:pic>
        <p:nvPicPr>
          <p:cNvPr id="3" name="Picture 1" descr="/Users/jamsden/Developer/OSLC/oslc4js/docs/images/AAKI-Overview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8665" y="905330"/>
            <a:ext cx="8606670" cy="4729926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268665" y="595267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b="1" dirty="0"/>
              <a:t>AAKI = AI Assisted Knowledge Integration.</a:t>
            </a:r>
            <a:r>
              <a:rPr lang="en-US" dirty="0"/>
              <a:t> Define, Instantiate, Activate, Govern over an OSLC linked-data thread.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The connectivity substrate — OSLC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t>Closing the </a:t>
            </a:r>
            <a:r>
              <a:rPr i="1"/>
              <a:t>connectivity</a:t>
            </a:r>
            <a:r>
              <a:t> gap needs a standard way for tools to link:</a:t>
            </a:r>
          </a:p>
          <a:p>
            <a:pPr lvl="1"/>
            <a:r>
              <a:rPr b="1"/>
              <a:t>OSLC connectors</a:t>
            </a:r>
            <a:r>
              <a:t> expose otherwise-unintegrated tools through a discoverable interface: catalog → service providers → creation factories, query capabilities, vocabularies, shapes — and discoverable by AI via </a:t>
            </a:r>
            <a:r>
              <a:rPr b="1"/>
              <a:t>MCP</a:t>
            </a:r>
            <a:r>
              <a:t>.</a:t>
            </a:r>
          </a:p>
          <a:p>
            <a:pPr lvl="1"/>
            <a:r>
              <a:rPr b="1"/>
              <a:t>Link ownership</a:t>
            </a:r>
            <a:r>
              <a:t> gives every link a home and a queryable reverse direction.</a:t>
            </a:r>
          </a:p>
          <a:p>
            <a:pPr lvl="1"/>
            <a:r>
              <a:rPr b="1"/>
              <a:t>Link validity</a:t>
            </a:r>
            <a:r>
              <a:t> marks a link </a:t>
            </a:r>
            <a:r>
              <a:rPr b="1"/>
              <a:t>suspect</a:t>
            </a:r>
            <a:r>
              <a:t> when an endpoint changes — staleness made visible.</a:t>
            </a:r>
          </a:p>
          <a:p>
            <a:pPr lvl="1"/>
            <a:r>
              <a:rPr b="1"/>
              <a:t>Configuration Management</a:t>
            </a:r>
            <a:r>
              <a:t> answers “which baseline?” — traceability with version context.</a:t>
            </a:r>
          </a:p>
          <a:p>
            <a:pPr marL="1270000" lvl="0" indent="0">
              <a:buNone/>
            </a:pPr>
            <a:r>
              <a:rPr sz="2000"/>
              <a:t>Without this substrate the AI has only text similarity — unsafe for engineering decisions. With it, the AI reasons over typed, governed, versioned links.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Stage 1 — Define (add the missing node)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dirty="0"/>
              <a:t>The meaning layer. </a:t>
            </a:r>
            <a:r>
              <a:rPr i="1" dirty="0"/>
              <a:t>What kinds of things exist, what properties they have, how they relate.</a:t>
            </a:r>
          </a:p>
          <a:p>
            <a:pPr lvl="1"/>
            <a:r>
              <a:rPr b="1" dirty="0"/>
              <a:t>Input</a:t>
            </a:r>
            <a:r>
              <a:rPr dirty="0"/>
              <a:t>: spec / policy / method documents; SME knowledge</a:t>
            </a:r>
          </a:p>
          <a:p>
            <a:pPr lvl="1"/>
            <a:r>
              <a:rPr b="1" dirty="0"/>
              <a:t>AI’s role — two paths, one tool</a:t>
            </a:r>
            <a:r>
              <a:rPr dirty="0"/>
              <a:t>:</a:t>
            </a:r>
          </a:p>
          <a:p>
            <a:pPr lvl="2"/>
            <a:r>
              <a:rPr b="1" dirty="0"/>
              <a:t>Draft</a:t>
            </a:r>
            <a:r>
              <a:rPr dirty="0"/>
              <a:t> </a:t>
            </a:r>
            <a:r>
              <a:rPr lang="en-US" dirty="0"/>
              <a:t>where needed, create </a:t>
            </a:r>
            <a:r>
              <a:rPr dirty="0"/>
              <a:t>a new open RDF vocabulary + OSLC </a:t>
            </a:r>
            <a:r>
              <a:rPr dirty="0" err="1"/>
              <a:t>ResourceShapes</a:t>
            </a:r>
            <a:r>
              <a:rPr dirty="0"/>
              <a:t> for a genuine conceptual gap. </a:t>
            </a:r>
            <a:endParaRPr lang="en-US" i="1" dirty="0"/>
          </a:p>
          <a:p>
            <a:pPr lvl="2"/>
            <a:r>
              <a:rPr lang="en-US" b="1" dirty="0"/>
              <a:t>Configure</a:t>
            </a:r>
            <a:r>
              <a:rPr lang="en-US" dirty="0"/>
              <a:t> a supporting OSLC server over shared vocabularies</a:t>
            </a:r>
            <a:endParaRPr i="1" dirty="0"/>
          </a:p>
          <a:p>
            <a:pPr lvl="1"/>
            <a:r>
              <a:rPr b="1" dirty="0"/>
              <a:t>Your role</a:t>
            </a:r>
            <a:r>
              <a:rPr dirty="0"/>
              <a:t>: review, refine, govern the contract downstream consumers rely on</a:t>
            </a:r>
          </a:p>
          <a:p>
            <a:pPr lvl="1"/>
            <a:r>
              <a:rPr b="1" dirty="0"/>
              <a:t>Output</a:t>
            </a:r>
            <a:r>
              <a:rPr dirty="0"/>
              <a:t>: a real, governed OSLC server node in the thread</a:t>
            </a:r>
          </a:p>
          <a:p>
            <a:pPr marL="1270000" lvl="0" indent="0">
              <a:buNone/>
            </a:pPr>
            <a:r>
              <a:rPr sz="2000" dirty="0"/>
              <a:t>Days or weeks, not months or years — and most of those days are configuration, not authoring. </a:t>
            </a:r>
            <a:r>
              <a:rPr sz="2000" i="1" dirty="0"/>
              <a:t>Reuse whenever a shared concept space exists; create only for genuine gaps.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 note on the “ontology”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Define produces an </a:t>
            </a:r>
            <a:r>
              <a:rPr b="1"/>
              <a:t>application vocabulary + an API/validation contract</a:t>
            </a:r>
            <a:r>
              <a:t> — in the lineage of W3C </a:t>
            </a:r>
            <a:r>
              <a:rPr b="1"/>
              <a:t>SHACL</a:t>
            </a:r>
            <a:r>
              <a:t> (OSLC’s ResourceShape is one of its ancestors).</a:t>
            </a:r>
          </a:p>
          <a:p>
            <a:pPr lvl="1"/>
            <a:r>
              <a:t>It </a:t>
            </a:r>
            <a:r>
              <a:rPr b="1"/>
              <a:t>validates</a:t>
            </a:r>
            <a:r>
              <a:t>, it does not </a:t>
            </a:r>
            <a:r>
              <a:rPr b="1"/>
              <a:t>infer</a:t>
            </a:r>
            <a:r>
              <a:t> — like schema.org and most production knowledge graphs.</a:t>
            </a:r>
          </a:p>
          <a:p>
            <a:pPr lvl="1"/>
            <a:r>
              <a:rPr b="1"/>
              <a:t>OWL-compatible, not OWL-required</a:t>
            </a:r>
            <a:r>
              <a:t>: the vocabulary is plain RDF; layer OWL over it if you wish, but reasoning is never a precondition for interoperability.</a:t>
            </a:r>
          </a:p>
          <a:p>
            <a:pPr lvl="1"/>
            <a:r>
              <a:t>Where an authoritative formal ontology exists (SysML v2, ISO 15926, IOF/BFO, FIBO), Define </a:t>
            </a:r>
            <a:r>
              <a:rPr b="1"/>
              <a:t>reuses</a:t>
            </a:r>
            <a:r>
              <a:t> it as the vocabulary layer.</a:t>
            </a:r>
          </a:p>
          <a:p>
            <a:pPr marL="1270000" lvl="0" indent="0">
              <a:buNone/>
            </a:pPr>
            <a:r>
              <a:rPr sz="2000"/>
              <a:t>AAKI’s contribution is closing connectivity and data gaps — which formal ontologies do not themselves address.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Stage 2 — Instantiate (add </a:t>
            </a:r>
            <a:r>
              <a:rPr lang="en-US" dirty="0"/>
              <a:t>instance data</a:t>
            </a:r>
            <a:r>
              <a:rPr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The content layer. </a:t>
            </a:r>
            <a:r>
              <a:rPr i="1" dirty="0"/>
              <a:t>Populate nodes with resources and the links between them.</a:t>
            </a:r>
          </a:p>
          <a:p>
            <a:pPr lvl="1"/>
            <a:r>
              <a:rPr b="1" dirty="0"/>
              <a:t>Input</a:t>
            </a:r>
            <a:r>
              <a:rPr dirty="0"/>
              <a:t>: an example document (a business plan, an ISO procedure, a requirements set) + SME conversations</a:t>
            </a:r>
          </a:p>
          <a:p>
            <a:pPr lvl="1"/>
            <a:r>
              <a:rPr b="1" dirty="0"/>
              <a:t>AI’s role</a:t>
            </a:r>
            <a:r>
              <a:rPr dirty="0"/>
              <a:t>: translates intent into shape-conformant resources, posts via MCP, creates the cross-domain links, reports progress</a:t>
            </a:r>
          </a:p>
          <a:p>
            <a:pPr lvl="1"/>
            <a:r>
              <a:rPr b="1" dirty="0"/>
              <a:t>Your role</a:t>
            </a:r>
            <a:r>
              <a:rPr dirty="0"/>
              <a:t>: govern context (configuration, change set, approval state), review proposals, own the outcome</a:t>
            </a:r>
          </a:p>
          <a:p>
            <a:pPr lvl="1"/>
            <a:r>
              <a:rPr b="1" dirty="0"/>
              <a:t>Output</a:t>
            </a:r>
            <a:r>
              <a:rPr dirty="0"/>
              <a:t>: a populated, linked, </a:t>
            </a:r>
            <a:r>
              <a:rPr dirty="0" err="1"/>
              <a:t>queryable</a:t>
            </a:r>
            <a:r>
              <a:rPr dirty="0"/>
              <a:t> thread</a:t>
            </a:r>
          </a:p>
          <a:p>
            <a:pPr marL="1270000" lvl="0" indent="0">
              <a:buNone/>
            </a:pPr>
            <a:r>
              <a:rPr sz="2000" dirty="0"/>
              <a:t>The linking cost moves off the author. The AI never delivers without approval. The incentive problem that kept the thread sparse dissolves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Stage 3 — Activate (make the thread actionable)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482702"/>
          </a:xfrm>
        </p:spPr>
        <p:txBody>
          <a:bodyPr/>
          <a:lstStyle/>
          <a:p>
            <a:r>
              <a:rPr dirty="0"/>
              <a:t>The value layer. </a:t>
            </a:r>
            <a:r>
              <a:rPr i="1" dirty="0"/>
              <a:t>Use the connected thread to drive decisions</a:t>
            </a:r>
          </a:p>
          <a:p>
            <a:r>
              <a:rPr dirty="0"/>
              <a:t>Natural-language questions. Cross-domain queries. “What-if” analyses. </a:t>
            </a:r>
            <a:r>
              <a:rPr lang="en-US" dirty="0"/>
              <a:t>G</a:t>
            </a:r>
            <a:r>
              <a:rPr dirty="0"/>
              <a:t>ap and coverage detection </a:t>
            </a:r>
            <a:endParaRPr lang="en-US" dirty="0"/>
          </a:p>
          <a:p>
            <a:r>
              <a:rPr dirty="0"/>
              <a:t>Impact analysis</a:t>
            </a:r>
            <a:r>
              <a:rPr lang="en-US" dirty="0"/>
              <a:t>,</a:t>
            </a:r>
            <a:r>
              <a:rPr dirty="0"/>
              <a:t> Compliance reports</a:t>
            </a:r>
            <a:r>
              <a:rPr lang="en-US" dirty="0"/>
              <a:t>,</a:t>
            </a:r>
            <a:r>
              <a:rPr dirty="0"/>
              <a:t> Traceability views</a:t>
            </a:r>
            <a:r>
              <a:rPr lang="en-US" dirty="0"/>
              <a:t>:</a:t>
            </a:r>
            <a:r>
              <a:rPr dirty="0"/>
              <a:t> All over the same governed graph — same provenance, configuration context, and approval state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3459C4-AE62-A981-0293-531F9564492D}"/>
              </a:ext>
            </a:extLst>
          </p:cNvPr>
          <p:cNvSpPr txBox="1"/>
          <p:nvPr/>
        </p:nvSpPr>
        <p:spPr>
          <a:xfrm>
            <a:off x="457200" y="4590479"/>
            <a:ext cx="832529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indent="0">
              <a:buNone/>
            </a:pPr>
            <a:r>
              <a:rPr lang="en-US" sz="2000" b="1" dirty="0"/>
              <a:t>Stage 3 justifies Stages 1 and 2. Without Activate you have a beautifully governed thread nobody uses. With it, you have the system of record everyone wants to ask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Activate </a:t>
            </a:r>
            <a:r>
              <a:rPr lang="en-US" dirty="0"/>
              <a:t>has</a:t>
            </a:r>
            <a:r>
              <a:rPr dirty="0"/>
              <a:t> three facets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129098"/>
              </p:ext>
            </p:extLst>
          </p:nvPr>
        </p:nvGraphicFramePr>
        <p:xfrm>
          <a:off x="329610" y="2684719"/>
          <a:ext cx="8229600" cy="3118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7095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/>
                        <a:t>Facet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 dirty="0"/>
                        <a:t>The AI’s scope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/>
                        <a:t>Example question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6159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 b="1"/>
                        <a:t>Tool / Resource Optimization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/>
                        <a:t>One tool, one domain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/>
                        <a:t>“Is this requirement well-written? Any duplicate test cases?”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6159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 b="1"/>
                        <a:t>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/>
                        <a:t>Live OSLC link graph across 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/>
                        <a:t>“Which requirements lack test cases? Impact of changing this interface?”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35224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 b="1"/>
                        <a:t>Analytics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 dirty="0"/>
                        <a:t>Materialized view (LQE-style)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 dirty="0"/>
                        <a:t>“Test coverage by hazard category? What changed since the last milestone?”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800DB50-C6D9-0F17-6778-C93D04533EE4}"/>
              </a:ext>
            </a:extLst>
          </p:cNvPr>
          <p:cNvSpPr txBox="1"/>
          <p:nvPr/>
        </p:nvSpPr>
        <p:spPr>
          <a:xfrm>
            <a:off x="329610" y="1228643"/>
            <a:ext cx="835719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buNone/>
            </a:pPr>
            <a:r>
              <a:rPr lang="en-US" sz="2200" dirty="0"/>
              <a:t>Three lenses on the same governed graph — each for a different question. Same MCP protocol, same RDF substrate, different cost and scope per facet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Stage 4 — Govern (conformance &amp; improvement)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r>
              <a:rPr dirty="0"/>
              <a:t>The evolution layer. </a:t>
            </a:r>
            <a:r>
              <a:rPr i="1" dirty="0"/>
              <a:t>Govern how the thread evolves against external criteria, reusing </a:t>
            </a:r>
            <a:r>
              <a:rPr i="1" dirty="0" err="1"/>
              <a:t>Activate’s</a:t>
            </a:r>
            <a:r>
              <a:rPr i="1" dirty="0"/>
              <a:t> queries.</a:t>
            </a:r>
            <a:r>
              <a:rPr dirty="0"/>
              <a:t> A </a:t>
            </a:r>
            <a:r>
              <a:rPr lang="en-US" dirty="0"/>
              <a:t>governance </a:t>
            </a:r>
            <a:r>
              <a:rPr dirty="0"/>
              <a:t>regime is </a:t>
            </a:r>
            <a:r>
              <a:rPr b="1" dirty="0"/>
              <a:t>first-class OSLC data</a:t>
            </a:r>
            <a:r>
              <a:rPr dirty="0"/>
              <a:t>, part of the thread — not documents on a shared drive:</a:t>
            </a:r>
          </a:p>
          <a:p>
            <a:pPr lvl="1"/>
            <a:r>
              <a:rPr b="1" dirty="0"/>
              <a:t>Criteria governed as OSLC data</a:t>
            </a:r>
            <a:r>
              <a:rPr dirty="0"/>
              <a:t> — an ASPICE process outcome, an ISO 26262 safety requirement, an internal quality gate is itself a </a:t>
            </a:r>
            <a:r>
              <a:rPr b="1" dirty="0"/>
              <a:t>governed, versioned resource</a:t>
            </a:r>
            <a:r>
              <a:rPr dirty="0"/>
              <a:t>. Regimes are </a:t>
            </a:r>
            <a:r>
              <a:rPr b="1" dirty="0"/>
              <a:t>optional and plural</a:t>
            </a:r>
            <a:r>
              <a:rPr dirty="0"/>
              <a:t> — the model is regime-agnostic (IEC 61508, DO-178C, ISO 9001, …).</a:t>
            </a:r>
          </a:p>
          <a:p>
            <a:pPr lvl="1"/>
            <a:r>
              <a:rPr b="1" dirty="0"/>
              <a:t>Linked to their evidence</a:t>
            </a:r>
            <a:r>
              <a:rPr dirty="0"/>
              <a:t> — each criterion points at the requirements, designs, and tests that evidence it.</a:t>
            </a:r>
          </a:p>
          <a:p>
            <a:pPr lvl="1"/>
            <a:r>
              <a:rPr b="1" dirty="0"/>
              <a:t>Versioned → metrics over time</a:t>
            </a:r>
            <a:r>
              <a:rPr dirty="0"/>
              <a:t> — because criteria </a:t>
            </a:r>
            <a:r>
              <a:rPr i="1" dirty="0"/>
              <a:t>and</a:t>
            </a:r>
            <a:r>
              <a:rPr dirty="0"/>
              <a:t> evidence are versioned, conformance is assessed </a:t>
            </a:r>
            <a:r>
              <a:rPr b="1" dirty="0"/>
              <a:t>over the live thread</a:t>
            </a:r>
            <a:r>
              <a:rPr dirty="0"/>
              <a:t> (not an episodic audit), yielding process metrics over time.</a:t>
            </a:r>
          </a:p>
          <a:p>
            <a:pPr marL="1270000" lvl="0" indent="0">
              <a:buNone/>
            </a:pPr>
            <a:r>
              <a:rPr sz="2000" dirty="0"/>
              <a:t>Compliance becomes a continuously-held state — and the thread surfaces improvement signals feeding back into Define and Instantiate.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Governance discipline: Observe / Propose / Execute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i="1" dirty="0"/>
              <a:t>This is the cross-cutting governance </a:t>
            </a:r>
            <a:r>
              <a:rPr b="1" i="1" dirty="0"/>
              <a:t>discipline</a:t>
            </a:r>
            <a:r>
              <a:rPr i="1" dirty="0"/>
              <a:t> — RACI, Observe-Propose-Execute, provenance — that runs across </a:t>
            </a:r>
            <a:r>
              <a:rPr b="1" i="1" dirty="0"/>
              <a:t>all four</a:t>
            </a:r>
            <a:r>
              <a:rPr i="1" dirty="0"/>
              <a:t> stages, not a stage itself (distinct from the Govern stage above).</a:t>
            </a:r>
          </a:p>
          <a:p>
            <a:pPr marL="0" lvl="0" indent="0">
              <a:buNone/>
            </a:pPr>
            <a:r>
              <a:rPr dirty="0"/>
              <a:t>The AI does not appear on the RACI chart. Three patterns let it assist without taking the wheel:</a:t>
            </a:r>
          </a:p>
          <a:p>
            <a:pPr lvl="1"/>
            <a:r>
              <a:rPr b="1" dirty="0"/>
              <a:t>Observe</a:t>
            </a:r>
            <a:r>
              <a:rPr dirty="0"/>
              <a:t> — read-only analyses; no approval needed. </a:t>
            </a:r>
            <a:r>
              <a:rPr i="1" dirty="0"/>
              <a:t>“Show me requirements without test cases.”</a:t>
            </a:r>
          </a:p>
          <a:p>
            <a:pPr lvl="1"/>
            <a:r>
              <a:rPr b="1" dirty="0"/>
              <a:t>Propose</a:t>
            </a:r>
            <a:r>
              <a:rPr dirty="0"/>
              <a:t> — drafts artifacts and links into a </a:t>
            </a:r>
            <a:r>
              <a:rPr i="1" dirty="0"/>
              <a:t>proposed</a:t>
            </a:r>
            <a:r>
              <a:rPr dirty="0"/>
              <a:t> state; human reviews, edits, promotes. </a:t>
            </a:r>
            <a:r>
              <a:rPr i="1" dirty="0"/>
              <a:t>“Draft a test case for this requirement.”</a:t>
            </a:r>
          </a:p>
          <a:p>
            <a:pPr lvl="1"/>
            <a:r>
              <a:rPr b="1" dirty="0"/>
              <a:t>Execute</a:t>
            </a:r>
            <a:r>
              <a:rPr dirty="0"/>
              <a:t> — mechanical operations under pre-authorized policy</a:t>
            </a:r>
            <a:r>
              <a:rPr lang="en-US" dirty="0"/>
              <a:t> captured in a change set for approval and delivery</a:t>
            </a:r>
            <a:r>
              <a:rPr dirty="0"/>
              <a:t>. </a:t>
            </a:r>
            <a:r>
              <a:rPr i="1" dirty="0"/>
              <a:t>“Link every test case to the requirement it names.”</a:t>
            </a:r>
          </a:p>
          <a:p>
            <a:pPr marL="0" lvl="0" indent="0">
              <a:buNone/>
            </a:pPr>
            <a:r>
              <a:rPr dirty="0"/>
              <a:t>Humans remain Responsible and Accountable. The governance trail (provenance, versioning, attribution, configuration context) proves it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Why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b="1" dirty="0"/>
              <a:t>RDF was built for this.</a:t>
            </a:r>
            <a:r>
              <a:rPr dirty="0"/>
              <a:t> Turtle expresses </a:t>
            </a:r>
            <a:r>
              <a:rPr i="1" dirty="0"/>
              <a:t>meaning</a:t>
            </a:r>
            <a:r>
              <a:rPr dirty="0"/>
              <a:t>, not just structure — AI assistants are unusually fluent in it.</a:t>
            </a:r>
          </a:p>
          <a:p>
            <a:pPr lvl="1"/>
            <a:r>
              <a:rPr b="1" dirty="0"/>
              <a:t>OSLC was built for this.</a:t>
            </a:r>
            <a:r>
              <a:rPr dirty="0"/>
              <a:t> Typed, governed, linked artifacts across tools is the substrate AI needs to reason reliably.</a:t>
            </a:r>
          </a:p>
          <a:p>
            <a:pPr lvl="1"/>
            <a:r>
              <a:rPr b="1" dirty="0"/>
              <a:t>AI is the missing component.</a:t>
            </a:r>
            <a:r>
              <a:rPr dirty="0"/>
              <a:t> A 6-month manual integration becomes a 6-week guided collaboration; a thread nobody queried becomes one everyone queries.</a:t>
            </a:r>
          </a:p>
          <a:p>
            <a:pPr marL="1270000" lvl="0" indent="0">
              <a:buNone/>
            </a:pPr>
            <a:r>
              <a:rPr sz="2000" dirty="0"/>
              <a:t>Stages 1 and 2 used to be too expensive to justify Stage 3. </a:t>
            </a:r>
            <a:r>
              <a:rPr lang="en-US" sz="2000" dirty="0"/>
              <a:t>Stage 4 was often out of scope. </a:t>
            </a:r>
            <a:r>
              <a:rPr sz="2000" dirty="0"/>
              <a:t>AI changes that economics.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The proof: </a:t>
            </a:r>
            <a:r>
              <a:rPr lang="en-US" dirty="0" err="1">
                <a:latin typeface="Courier"/>
              </a:rPr>
              <a:t>genoslc</a:t>
            </a:r>
            <a:r>
              <a:rPr lang="en-US" dirty="0">
                <a:latin typeface="Courier"/>
              </a:rPr>
              <a:t>-</a:t>
            </a:r>
            <a:r>
              <a:rPr lang="en-US" dirty="0" err="1">
                <a:latin typeface="Courier"/>
              </a:rPr>
              <a:t>b</a:t>
            </a:r>
            <a:r>
              <a:rPr dirty="0" err="1">
                <a:latin typeface="Courier"/>
              </a:rPr>
              <a:t>mm</a:t>
            </a:r>
            <a:r>
              <a:rPr dirty="0">
                <a:latin typeface="Courier"/>
              </a:rPr>
              <a:t>-server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One node of a digital thread — the business-motivation domain, a real </a:t>
            </a:r>
            <a:r>
              <a:rPr i="1" dirty="0"/>
              <a:t>data-gap</a:t>
            </a:r>
            <a:r>
              <a:rPr dirty="0"/>
              <a:t> fill.</a:t>
            </a:r>
          </a:p>
          <a:p>
            <a:pPr lvl="1"/>
            <a:r>
              <a:rPr b="1" dirty="0"/>
              <a:t>Define done.</a:t>
            </a:r>
            <a:r>
              <a:rPr dirty="0"/>
              <a:t> The AI read the OMG Business Motivation Model 1.3 spec → </a:t>
            </a:r>
            <a:r>
              <a:rPr dirty="0" err="1">
                <a:latin typeface="Courier"/>
              </a:rPr>
              <a:t>BMM.ttl</a:t>
            </a:r>
            <a:r>
              <a:rPr dirty="0"/>
              <a:t> + </a:t>
            </a:r>
            <a:r>
              <a:rPr dirty="0">
                <a:latin typeface="Courier"/>
              </a:rPr>
              <a:t>BMM-</a:t>
            </a:r>
            <a:r>
              <a:rPr dirty="0" err="1">
                <a:latin typeface="Courier"/>
              </a:rPr>
              <a:t>Shapes.ttl</a:t>
            </a:r>
            <a:r>
              <a:rPr dirty="0"/>
              <a:t> (25 classes, 49 properties, 14 </a:t>
            </a:r>
            <a:r>
              <a:rPr dirty="0" err="1"/>
              <a:t>ResourceShapes</a:t>
            </a:r>
            <a:r>
              <a:rPr dirty="0"/>
              <a:t>). </a:t>
            </a:r>
            <a:r>
              <a:rPr dirty="0">
                <a:latin typeface="Courier"/>
              </a:rPr>
              <a:t>create-</a:t>
            </a:r>
            <a:r>
              <a:rPr dirty="0" err="1">
                <a:latin typeface="Courier"/>
              </a:rPr>
              <a:t>oslc</a:t>
            </a:r>
            <a:r>
              <a:rPr dirty="0">
                <a:latin typeface="Courier"/>
              </a:rPr>
              <a:t>-server</a:t>
            </a:r>
            <a:r>
              <a:rPr dirty="0"/>
              <a:t> assembled a fully operational, AI-ready OSLC server.</a:t>
            </a:r>
          </a:p>
          <a:p>
            <a:pPr lvl="1"/>
            <a:r>
              <a:rPr b="1" dirty="0"/>
              <a:t>Instantiate runs live.</a:t>
            </a:r>
            <a:r>
              <a:rPr dirty="0"/>
              <a:t> The AI populates EU-Rent — Vision, Goals, Strategies, Tactics, Influencers, Assessments, Policies — with cross-resource links, in minutes.</a:t>
            </a:r>
          </a:p>
          <a:p>
            <a:pPr lvl="1"/>
            <a:r>
              <a:rPr b="1" dirty="0"/>
              <a:t>Activate runs live.</a:t>
            </a:r>
            <a:r>
              <a:rPr dirty="0"/>
              <a:t> “Which goals lack supporting tactics?” “Impact of revising Mission X?” — the AI traverses the OSLC graph and answers.</a:t>
            </a:r>
          </a:p>
          <a:p>
            <a:pPr marL="1270000" lvl="0" indent="0">
              <a:buNone/>
            </a:pPr>
            <a:r>
              <a:rPr sz="2000" dirty="0"/>
              <a:t>Real shapes. Real OSLC server. Real MCP endpoints. Not slide-ware.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3861CAD-585B-E2F4-CC0A-13CDED24BB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944" y="1619743"/>
            <a:ext cx="7772400" cy="5107072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35673B6B-0392-08F0-6A62-5896A7B41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EU-Rent’s Business Motivation</a:t>
            </a:r>
          </a:p>
        </p:txBody>
      </p:sp>
    </p:spTree>
    <p:extLst>
      <p:ext uri="{BB962C8B-B14F-4D97-AF65-F5344CB8AC3E}">
        <p14:creationId xmlns:p14="http://schemas.microsoft.com/office/powerpoint/2010/main" val="9929769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D370F-9289-17BD-64CC-4AA09D788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000" dirty="0"/>
              <a:t>Prompt: Identify Goals on the EU-Rent </a:t>
            </a:r>
            <a:r>
              <a:rPr lang="en-US" sz="2000" dirty="0" err="1"/>
              <a:t>ServiceProvider</a:t>
            </a:r>
            <a:r>
              <a:rPr lang="en-US" sz="2000" dirty="0"/>
              <a:t> that have no realizing</a:t>
            </a:r>
            <a:br>
              <a:rPr lang="en-US" sz="2000" dirty="0"/>
            </a:br>
            <a:r>
              <a:rPr lang="en-US" sz="2000" dirty="0"/>
              <a:t>Tactic chain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09A78-69C9-5709-71F7-9A37AFD6D5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Result: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Traced </a:t>
            </a:r>
            <a:r>
              <a:rPr lang="en-US" b="1" dirty="0"/>
              <a:t>Goal ← </a:t>
            </a:r>
            <a:r>
              <a:rPr lang="en-US" b="1" dirty="0" err="1"/>
              <a:t>channelsEffortsToward</a:t>
            </a:r>
            <a:r>
              <a:rPr lang="en-US" b="1" dirty="0"/>
              <a:t> — Strategy ← implements — Tactic</a:t>
            </a:r>
            <a:r>
              <a:rPr lang="en-US" dirty="0"/>
              <a:t> across the 4 EU-Rent Goals. One is fully realized; three have broken chains:</a:t>
            </a:r>
          </a:p>
          <a:p>
            <a:r>
              <a:rPr lang="en-US" b="1" dirty="0"/>
              <a:t>Fully covered:</a:t>
            </a:r>
            <a:r>
              <a:rPr lang="en-US" dirty="0"/>
              <a:t> </a:t>
            </a:r>
            <a:r>
              <a:rPr lang="en-US" i="1" dirty="0"/>
              <a:t>Provide well-maintained cars</a:t>
            </a:r>
            <a:r>
              <a:rPr lang="en-US" dirty="0"/>
              <a:t> (…/goal-well-maintained-cars) — two Strategies, both implemented by Tactics.</a:t>
            </a:r>
          </a:p>
          <a:p>
            <a:r>
              <a:rPr lang="en-US" b="1" dirty="0"/>
              <a:t>Gap, no Means at all:</a:t>
            </a:r>
            <a:r>
              <a:rPr lang="en-US" dirty="0"/>
              <a:t> </a:t>
            </a:r>
            <a:r>
              <a:rPr lang="en-US" i="1" dirty="0"/>
              <a:t>Provide industry-leading customer service</a:t>
            </a:r>
            <a:r>
              <a:rPr lang="en-US" dirty="0"/>
              <a:t> (…/goal-customer-service) — no Strategy channels toward it; only an Objective (85% CSAT) exists. Needs a new Strategy </a:t>
            </a:r>
            <a:r>
              <a:rPr lang="en-US" i="1" dirty="0"/>
              <a:t>plus</a:t>
            </a:r>
            <a:r>
              <a:rPr lang="en-US" dirty="0"/>
              <a:t> Tactics (staff training/service standards, complaint resolution, self-service).</a:t>
            </a:r>
          </a:p>
          <a:p>
            <a:r>
              <a:rPr lang="en-US" b="1" dirty="0"/>
              <a:t>Gap, Tactic layer missing:</a:t>
            </a:r>
            <a:r>
              <a:rPr lang="en-US" dirty="0"/>
              <a:t> </a:t>
            </a:r>
            <a:r>
              <a:rPr lang="en-US" i="1" dirty="0"/>
              <a:t>Be a premium brand car rental company</a:t>
            </a:r>
            <a:r>
              <a:rPr lang="en-US" dirty="0"/>
              <a:t> (…/goal-premium-brand) — </a:t>
            </a:r>
            <a:r>
              <a:rPr lang="en-US" dirty="0" err="1"/>
              <a:t>strat-onairport</a:t>
            </a:r>
            <a:r>
              <a:rPr lang="en-US" dirty="0"/>
              <a:t> channels toward it but no Tactic implements it. Needs airport-presence execution tactics.</a:t>
            </a:r>
          </a:p>
          <a:p>
            <a:r>
              <a:rPr lang="en-US" b="1" dirty="0"/>
              <a:t>Gap, Tactic layer missing:</a:t>
            </a:r>
            <a:r>
              <a:rPr lang="en-US" dirty="0"/>
              <a:t> </a:t>
            </a:r>
            <a:r>
              <a:rPr lang="en-US" i="1" dirty="0"/>
              <a:t>Have vehicles available when and where expected</a:t>
            </a:r>
            <a:r>
              <a:rPr lang="en-US" dirty="0"/>
              <a:t> (…/goal-vehicle-availability) — </a:t>
            </a:r>
            <a:r>
              <a:rPr lang="en-US" dirty="0" err="1"/>
              <a:t>strat</a:t>
            </a:r>
            <a:r>
              <a:rPr lang="en-US" dirty="0"/>
              <a:t>-vehicle-stock channels toward it but no Tactic implements it (and no Objective quantifies it). Needs stock/fleet-balancing tactics.</a:t>
            </a:r>
          </a:p>
          <a:p>
            <a:pPr marL="0" indent="0">
              <a:buNone/>
            </a:pPr>
            <a:r>
              <a:rPr lang="en-US" dirty="0"/>
              <a:t>Root cause: three Strategies (</a:t>
            </a:r>
            <a:r>
              <a:rPr lang="en-US" dirty="0" err="1"/>
              <a:t>strat-onairport</a:t>
            </a:r>
            <a:r>
              <a:rPr lang="en-US" dirty="0"/>
              <a:t>, </a:t>
            </a:r>
            <a:r>
              <a:rPr lang="en-US" dirty="0" err="1"/>
              <a:t>strat</a:t>
            </a:r>
            <a:r>
              <a:rPr lang="en-US" dirty="0"/>
              <a:t>-vehicle-stock, </a:t>
            </a:r>
            <a:r>
              <a:rPr lang="en-US" dirty="0" err="1"/>
              <a:t>strat</a:t>
            </a:r>
            <a:r>
              <a:rPr lang="en-US" dirty="0"/>
              <a:t>-rewards-scheme) have zero implementing Tactics. Also one orphan: tactic-encourage-extensions implements no Strategy. All read-only — nothing changed.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30797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Questions before the demo?</a:t>
            </a:r>
          </a:p>
          <a:p>
            <a:pPr marL="1270000" lvl="0" indent="0">
              <a:buNone/>
            </a:pPr>
            <a:r>
              <a:rPr sz="2000" i="1"/>
              <a:t>The digital thread’s promise was traceability; its unmet need was action. AAKI closes the missing links and missing nodes with AI + OSLC — so the thread becomes something you act on, prove continuously, and improve.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1371</TotalTime>
  <Words>2070</Words>
  <Application>Microsoft Macintosh PowerPoint</Application>
  <PresentationFormat>On-screen Show (4:3)</PresentationFormat>
  <Paragraphs>114</Paragraphs>
  <Slides>19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Courier</vt:lpstr>
      <vt:lpstr>Wingdings</vt:lpstr>
      <vt:lpstr>Office Theme</vt:lpstr>
      <vt:lpstr>AI Assisted Knowledge Integration</vt:lpstr>
      <vt:lpstr>The Digital Thread – a navigable, governed graph</vt:lpstr>
      <vt:lpstr>Challenges — a Digital Thread graph with holes</vt:lpstr>
      <vt:lpstr>AAKI closes the gaps — AI assistants + OSLC</vt:lpstr>
      <vt:lpstr>The four “what ifs” are the four AAKI stages</vt:lpstr>
      <vt:lpstr>AAKI at a glance</vt:lpstr>
      <vt:lpstr>The connectivity substrate — OSLC</vt:lpstr>
      <vt:lpstr>Stage 1 — Define (add the missing node)</vt:lpstr>
      <vt:lpstr>A note on the “ontology”</vt:lpstr>
      <vt:lpstr>Stage 2 — Instantiate (add instance data)</vt:lpstr>
      <vt:lpstr>Stage 3 — Activate (make the thread actionable)</vt:lpstr>
      <vt:lpstr>Activate has three facets</vt:lpstr>
      <vt:lpstr>Stage 4 — Govern (conformance &amp; improvement)</vt:lpstr>
      <vt:lpstr>Governance discipline: Observe / Propose / Execute</vt:lpstr>
      <vt:lpstr>Why now</vt:lpstr>
      <vt:lpstr>The proof: genoslc-bmm-server</vt:lpstr>
      <vt:lpstr>EU-Rent’s Business Motivation</vt:lpstr>
      <vt:lpstr>Prompt: Identify Goals on the EU-Rent ServiceProvider that have no realizing Tactic chain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On-screen Show (4:3)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Jim Amsden</cp:lastModifiedBy>
  <cp:revision>6</cp:revision>
  <dcterms:created xsi:type="dcterms:W3CDTF">2026-07-14T15:22:03Z</dcterms:created>
  <dcterms:modified xsi:type="dcterms:W3CDTF">2026-09-04T12:14:25Z</dcterms:modified>
</cp:coreProperties>
</file>